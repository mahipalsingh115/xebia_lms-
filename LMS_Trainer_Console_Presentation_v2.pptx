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6C1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6C1D5F"/>
                </a:solidFill>
                <a:latin typeface="Segoe UI"/>
              </a:defRPr>
            </a:pPr>
            <a:r>
              <a:t>ENTERPRISE LEARNING MANAGEMENT SYSTEM</a:t>
            </a:r>
          </a:p>
          <a:p>
            <a:pPr>
              <a:spcAft>
                <a:spcPts val="2500"/>
              </a:spcAft>
              <a:defRPr sz="3600" b="1">
                <a:solidFill>
                  <a:srgbClr val="1E293B"/>
                </a:solidFill>
                <a:latin typeface="Segoe UI"/>
              </a:defRPr>
            </a:pPr>
            <a:r>
              <a:t>LMS-Xebia Platform Overview &amp; </a:t>
            </a:r>
            <a:br/>
            <a:r>
              <a:t>Trainer Console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600"/>
              </a:spcAft>
            </a:pPr>
            <a:r>
              <a:rPr b="1" sz="1200">
                <a:solidFill>
                  <a:srgbClr val="475569"/>
                </a:solidFill>
              </a:rPr>
              <a:t>Internship Candidate: </a:t>
            </a:r>
            <a:r>
              <a:rPr sz="1200">
                <a:solidFill>
                  <a:srgbClr val="0F172A"/>
                </a:solidFill>
              </a:rPr>
              <a:t>Software Development Engineer (SDE) Intern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475569"/>
                </a:solidFill>
              </a:rPr>
              <a:t>Primary Contributions: </a:t>
            </a:r>
            <a:r>
              <a:rPr sz="1200">
                <a:solidFill>
                  <a:srgbClr val="0F172A"/>
                </a:solidFill>
              </a:rPr>
              <a:t>Trainer Console Core Services (Assignments, Quizzes, Course Builder, Gradebook)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475569"/>
                </a:solidFill>
              </a:rPr>
              <a:t>Architecture Stack: </a:t>
            </a:r>
            <a:r>
              <a:rPr sz="1200">
                <a:solidFill>
                  <a:srgbClr val="0F172A"/>
                </a:solidFill>
              </a:rPr>
              <a:t>Vite React, Java, Spring Boot, MySQL Database, REST APIs, Hibernate ORM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475569"/>
                </a:solidFill>
              </a:rPr>
              <a:t>Project Duration: </a:t>
            </a:r>
            <a:r>
              <a:rPr sz="1200">
                <a:solidFill>
                  <a:srgbClr val="0F172A"/>
                </a:solidFill>
              </a:rPr>
              <a:t>Full Term Intern Development Period (8 - 12 Weeks)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C1D5F"/>
                </a:solidFill>
                <a:latin typeface="Segoe UI"/>
              </a:defRPr>
            </a:pPr>
            <a:r>
              <a:t>LMS-XEBIA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LMS-Xebia: Complete Platform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</a:defRPr>
            </a:pPr>
            <a:r>
              <a:t>LMS-Xebia is an enterprise learning portal designed to streamline learning paths, training compliance, and class cohorts. The architecture is modularly separated into four core functional consoles: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46888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21945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200"/>
              </a:spcAft>
              <a:defRPr b="1" sz="1400">
                <a:solidFill>
                  <a:srgbClr val="6C1D5F"/>
                </a:solidFill>
              </a:defRPr>
            </a:pPr>
            <a:r>
              <a:t>Admin Console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Platform Settings</a:t>
            </a:r>
            <a:br/>
            <a:r>
              <a:t>User Management</a:t>
            </a:r>
            <a:br/>
            <a:r>
              <a:t>Role-Based Access Control</a:t>
            </a:r>
            <a:br/>
            <a:r>
              <a:t>Audit Trail Logs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011680"/>
            <a:ext cx="246888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148840"/>
            <a:ext cx="21945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200"/>
              </a:spcAft>
              <a:defRPr b="1" sz="1400">
                <a:solidFill>
                  <a:srgbClr val="6C1D5F"/>
                </a:solidFill>
              </a:defRPr>
            </a:pPr>
            <a:r>
              <a:t>Manager Console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Department Configurations</a:t>
            </a:r>
            <a:br/>
            <a:r>
              <a:t>Course Approvals</a:t>
            </a:r>
            <a:br/>
            <a:r>
              <a:t>Batch Mappings</a:t>
            </a:r>
            <a:br/>
            <a:r>
              <a:t>Analytics &amp;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246888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21945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200"/>
              </a:spcAft>
              <a:defRPr b="1" sz="1400">
                <a:solidFill>
                  <a:srgbClr val="6C1D5F"/>
                </a:solidFill>
              </a:defRPr>
            </a:pPr>
            <a:r>
              <a:t>Trainer Console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Syllabus Configuration</a:t>
            </a:r>
            <a:br/>
            <a:r>
              <a:t>Assignment Management</a:t>
            </a:r>
            <a:br/>
            <a:r>
              <a:t>Gradebook &amp; Evaluation</a:t>
            </a:r>
            <a:br/>
            <a:r>
              <a:t>Quiz Excel Ingestion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011680"/>
            <a:ext cx="246888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148840"/>
            <a:ext cx="21945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200"/>
              </a:spcAft>
              <a:defRPr b="1" sz="1400">
                <a:solidFill>
                  <a:srgbClr val="6C1D5F"/>
                </a:solidFill>
              </a:defRPr>
            </a:pPr>
            <a:r>
              <a:t>Student Console</a:t>
            </a:r>
          </a:p>
          <a:p>
            <a:pPr algn="ctr">
              <a:defRPr sz="1100">
                <a:solidFill>
                  <a:srgbClr val="475569"/>
                </a:solidFill>
              </a:defRPr>
            </a:pPr>
            <a:r>
              <a:t>Course Catalog Enrollment</a:t>
            </a:r>
            <a:br/>
            <a:r>
              <a:t>Syllabus Consumption</a:t>
            </a:r>
            <a:br/>
            <a:r>
              <a:t>Assignment Submissions</a:t>
            </a:r>
            <a:br/>
            <a:r>
              <a:t>Quiz Attempts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b="1" sz="1300">
                <a:solidFill>
                  <a:srgbClr val="1E293B"/>
                </a:solidFill>
              </a:defRPr>
            </a:pPr>
            <a:r>
              <a:t>INTEGRATION HIGHLIGHTS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Core Architecture: </a:t>
            </a:r>
            <a:r>
              <a:rPr sz="1200">
                <a:solidFill>
                  <a:srgbClr val="475569"/>
                </a:solidFill>
                <a:latin typeface="Segoe UI"/>
              </a:rPr>
              <a:t>Dual-layered design featuring a modular single-page React frontend and a robust Spring Boot microservices backend API layer.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State Sync Pipeline: </a:t>
            </a:r>
            <a:r>
              <a:rPr sz="1200">
                <a:solidFill>
                  <a:srgbClr val="475569"/>
                </a:solidFill>
                <a:latin typeface="Segoe UI"/>
              </a:rPr>
              <a:t>Trainer-created syllabi and assignments populate student dashboards in real time, with evaluations writing to manager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C1D5F"/>
                </a:solidFill>
                <a:latin typeface="Segoe UI"/>
              </a:defRPr>
            </a:pPr>
            <a:r>
              <a:t>LMS-XEBIA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My Focus: Trainer Console Module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6C1D5F"/>
                </a:solidFill>
              </a:defRPr>
            </a:pPr>
            <a:r>
              <a:t>TRAINER CONSOLE RESPONSIBILITIES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Syllabus Customization: </a:t>
            </a:r>
            <a:r>
              <a:rPr sz="1200">
                <a:solidFill>
                  <a:srgbClr val="475569"/>
                </a:solidFill>
                <a:latin typeface="Segoe UI"/>
              </a:rPr>
              <a:t>Implemented full syllabus lifecycle (Modules, Sub-Modules, Content blocks) with manual list ordering APIs.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Assignment Controls: </a:t>
            </a:r>
            <a:r>
              <a:rPr sz="1200">
                <a:solidFill>
                  <a:srgbClr val="475569"/>
                </a:solidFill>
                <a:latin typeface="Segoe UI"/>
              </a:rPr>
              <a:t>Built CRUD operations for assignment models, defining guidelines, points, status states, and deadline rules.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Evaluation Lifecycle: </a:t>
            </a:r>
            <a:r>
              <a:rPr sz="1200">
                <a:solidFill>
                  <a:srgbClr val="475569"/>
                </a:solidFill>
                <a:latin typeface="Segoe UI"/>
              </a:rPr>
              <a:t>Designed submission evaluation workflow (Submitted, Graded, Rejected) with comment-based student feedback systems.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Excel Batch Uploads: </a:t>
            </a:r>
            <a:r>
              <a:rPr sz="1200">
                <a:solidFill>
                  <a:srgbClr val="475569"/>
                </a:solidFill>
                <a:latin typeface="Segoe UI"/>
              </a:rPr>
              <a:t>Created parser services to read spreadsheet question sets, creating bulk quizzes automatically.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EF4FF"/>
          </a:solidFill>
          <a:ln w="19050">
            <a:solidFill>
              <a:srgbClr val="F3C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5720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b="1" sz="1400">
                <a:solidFill>
                  <a:srgbClr val="6C1D5F"/>
                </a:solidFill>
              </a:defRPr>
            </a:pPr>
            <a:r>
              <a:t>TRAINER INTERFACE WORKFLOW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Trainer Dashboard: </a:t>
            </a:r>
            <a:r>
              <a:rPr sz="1200">
                <a:solidFill>
                  <a:srgbClr val="475569"/>
                </a:solidFill>
                <a:latin typeface="Segoe UI"/>
              </a:rPr>
              <a:t>Visual overview showing active class counts, pending reviews, and average quiz scores.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Syllabus Creator: </a:t>
            </a:r>
            <a:r>
              <a:rPr sz="1200">
                <a:solidFill>
                  <a:srgbClr val="475569"/>
                </a:solidFill>
                <a:latin typeface="Segoe UI"/>
              </a:rPr>
              <a:t>Visual hierarchy configurations to structure course content.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Assignment Manager: </a:t>
            </a:r>
            <a:r>
              <a:rPr sz="1200">
                <a:solidFill>
                  <a:srgbClr val="475569"/>
                </a:solidFill>
                <a:latin typeface="Segoe UI"/>
              </a:rPr>
              <a:t>Configure instructions, edit deadlines, and manage homework.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Submissions Queue: </a:t>
            </a:r>
            <a:r>
              <a:rPr sz="1200">
                <a:solidFill>
                  <a:srgbClr val="475569"/>
                </a:solidFill>
                <a:latin typeface="Segoe UI"/>
              </a:rPr>
              <a:t>Review submitted files, submit marks, and return comments.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C1D5F"/>
                </a:solidFill>
                <a:latin typeface="Segoe UI"/>
              </a:defRPr>
            </a:pPr>
            <a:r>
              <a:t>LMS-XEBIA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Technology Stack used in Trainer Console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468880" cy="29260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8760" y="22860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2286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b="1" sz="1300">
                <a:solidFill>
                  <a:srgbClr val="3B82F6"/>
                </a:solidFill>
              </a:defRPr>
            </a:pPr>
            <a:r>
              <a:t>React Client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Vite JS</a:t>
            </a:r>
            <a:br/>
            <a:r>
              <a:t>Tailwind CSS</a:t>
            </a:r>
            <a:br/>
            <a:r>
              <a:t>Lucide UI Icons</a:t>
            </a:r>
            <a:br/>
            <a:r>
              <a:t>Axios 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011680"/>
            <a:ext cx="2468880" cy="29260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251960" y="2286000"/>
            <a:ext cx="914400" cy="914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3383280"/>
            <a:ext cx="2286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b="1" sz="1300">
                <a:solidFill>
                  <a:srgbClr val="0D9488"/>
                </a:solidFill>
              </a:defRPr>
            </a:pPr>
            <a:r>
              <a:t>Spring Boot Core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Spring Web MVC</a:t>
            </a:r>
            <a:br/>
            <a:r>
              <a:t>Spring Data JPA</a:t>
            </a:r>
            <a:br/>
            <a:r>
              <a:t>REST APIs</a:t>
            </a:r>
            <a:br/>
            <a:r>
              <a:t>Entity DTO Mappers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2468880" cy="29260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95160" y="2286000"/>
            <a:ext cx="914400" cy="9144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383280"/>
            <a:ext cx="2286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b="1" sz="1300">
                <a:solidFill>
                  <a:srgbClr val="D97706"/>
                </a:solidFill>
              </a:defRPr>
            </a:pPr>
            <a:r>
              <a:t>MySQL Database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Relational Mapping</a:t>
            </a:r>
            <a:br/>
            <a:r>
              <a:t>Hibernate ORM</a:t>
            </a:r>
            <a:br/>
            <a:r>
              <a:t>Schema Migrations</a:t>
            </a:r>
            <a:br/>
            <a:r>
              <a:t>Query Optimizations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011680"/>
            <a:ext cx="2468880" cy="292608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A21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38360" y="2286000"/>
            <a:ext cx="914400" cy="914400"/>
          </a:xfrm>
          <a:prstGeom prst="ellipse">
            <a:avLst/>
          </a:prstGeom>
          <a:solidFill>
            <a:srgbClr val="A21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3383280"/>
            <a:ext cx="2286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b="1" sz="1300">
                <a:solidFill>
                  <a:srgbClr val="A21CAF"/>
                </a:solidFill>
              </a:defRPr>
            </a:pPr>
            <a:r>
              <a:t>API Sandbox</a:t>
            </a:r>
          </a:p>
          <a:p>
            <a:pPr algn="ctr">
              <a:defRPr sz="1000">
                <a:solidFill>
                  <a:srgbClr val="475569"/>
                </a:solidFill>
              </a:defRPr>
            </a:pPr>
            <a:r>
              <a:t>OpenAPI Specification</a:t>
            </a:r>
            <a:br/>
            <a:r>
              <a:t>Swagger UI Docs</a:t>
            </a:r>
            <a:br/>
            <a:r>
              <a:t>Postman collections</a:t>
            </a:r>
            <a:br/>
            <a:r>
              <a:t>JSON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1E293B"/>
                </a:solidFill>
              </a:defRPr>
            </a:pPr>
            <a:r>
              <a:t>INTEGRATION HIGHLIGHTS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Decoupled Architecture: </a:t>
            </a:r>
            <a:r>
              <a:rPr sz="1200">
                <a:solidFill>
                  <a:srgbClr val="475569"/>
                </a:solidFill>
                <a:latin typeface="Segoe UI"/>
              </a:rPr>
              <a:t>React serves the views asynchronously, calling JSON REST endpoints configured on the Spring Boot server, tested via Swagger and Postman.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C1D5F"/>
                </a:solidFill>
                <a:latin typeface="Segoe UI"/>
              </a:defRPr>
            </a:pPr>
            <a:r>
              <a:t>LMS-XEBIA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Syllabus Content Management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6C1D5F"/>
                </a:solidFill>
              </a:defRPr>
            </a:pPr>
            <a:r>
              <a:t>CURRICULUM BUILDER HIERARCHY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Nested Structure: </a:t>
            </a:r>
            <a:r>
              <a:rPr sz="1200">
                <a:solidFill>
                  <a:srgbClr val="475569"/>
                </a:solidFill>
                <a:latin typeface="Segoe UI"/>
              </a:rPr>
              <a:t>Modules (chapters) -&gt; Sub-Modules (topics) -&gt; Content blocks (materials).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Diverse Block Types: </a:t>
            </a:r>
            <a:r>
              <a:rPr sz="1200">
                <a:solidFill>
                  <a:srgbClr val="475569"/>
                </a:solidFill>
                <a:latin typeface="Segoe UI"/>
              </a:rPr>
              <a:t>Supports TEXT tutorials, embedded VIDEO urls, and PDF document files.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Sequence Controls: </a:t>
            </a:r>
            <a:r>
              <a:rPr sz="1200">
                <a:solidFill>
                  <a:srgbClr val="475569"/>
                </a:solidFill>
                <a:latin typeface="Segoe UI"/>
              </a:rPr>
              <a:t>Reorder PUT controllers re-align sequence sorting index transactionally.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731520"/>
          </a:xfrm>
          <a:prstGeom prst="roundRect">
            <a:avLst/>
          </a:prstGeom>
          <a:solidFill>
            <a:srgbClr val="6C1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73736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1. COURSE (Core Program Profile)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560320"/>
            <a:ext cx="4663440" cy="731520"/>
          </a:xfrm>
          <a:prstGeom prst="roundRect">
            <a:avLst/>
          </a:prstGeom>
          <a:solidFill>
            <a:srgbClr val="A21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65176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2. MODULES (Syllabus Chapters)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3474720"/>
            <a:ext cx="4206240" cy="731520"/>
          </a:xfrm>
          <a:prstGeom prst="round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356616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3. SUB-MODULES (Topics / Sub-Chapters)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4389120"/>
            <a:ext cx="3749039" cy="73152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448056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4. CONTENT (PDF, Video, 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30352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1" sz="1000" b="1">
                <a:solidFill>
                  <a:srgbClr val="94A3B8"/>
                </a:solidFill>
              </a:defRPr>
            </a:pPr>
            <a:r>
              <a:t>[ UI SCREENSHOT PLACEHOLDER: CurriculumBuilder.jsx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C1D5F"/>
                </a:solidFill>
                <a:latin typeface="Segoe UI"/>
              </a:defRPr>
            </a:pPr>
            <a:r>
              <a:t>LMS-XEBIA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Assignment Management &amp; Lifecycle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6C1D5F"/>
                </a:solidFill>
              </a:defRPr>
            </a:pPr>
            <a:r>
              <a:t>ASSIGNMENTS SYSTEM DESIGN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Assignment Schema: </a:t>
            </a:r>
            <a:r>
              <a:rPr sz="1200">
                <a:solidFill>
                  <a:srgbClr val="475569"/>
                </a:solidFill>
                <a:latin typeface="Segoe UI"/>
              </a:rPr>
              <a:t>Configured points, deadlines, and markdown guideline strings.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Status Transitions: </a:t>
            </a:r>
            <a:r>
              <a:rPr sz="1200">
                <a:solidFill>
                  <a:srgbClr val="475569"/>
                </a:solidFill>
                <a:latin typeface="Segoe UI"/>
              </a:rPr>
              <a:t>Tracks homework states automatically: Draft -&gt; Active -&gt; Completed.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Automated Constraints: </a:t>
            </a:r>
            <a:r>
              <a:rPr sz="1200">
                <a:solidFill>
                  <a:srgbClr val="475569"/>
                </a:solidFill>
                <a:latin typeface="Segoe UI"/>
              </a:rPr>
              <a:t>Rejects late student submissions automatically past the deadline unless extension granted.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DRAFT STATUS: Guidelines created by trainer; hidden from students.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743200"/>
            <a:ext cx="5120640" cy="82296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88036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0D9488"/>
                </a:solidFill>
              </a:defRPr>
            </a:pPr>
            <a:r>
              <a:t>ACTIVE STATUS: Published; visible on student dashboard. Accepting submissions.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120640" cy="8229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977639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>
                <a:solidFill>
                  <a:srgbClr val="DC2626"/>
                </a:solidFill>
              </a:defRPr>
            </a:pPr>
            <a:r>
              <a:t>COMPLETED STATUS: Deadline reached; late submissions blocked.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30352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1" sz="1000" b="1">
                <a:solidFill>
                  <a:srgbClr val="94A3B8"/>
                </a:solidFill>
              </a:defRPr>
            </a:pPr>
            <a:r>
              <a:t>[ UI SCREENSHOT PLACEHOLDER: Assignments.jsx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C1D5F"/>
                </a:solidFill>
                <a:latin typeface="Segoe UI"/>
              </a:defRPr>
            </a:pPr>
            <a:r>
              <a:t>LMS-XEBIA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Gradebook &amp; Evaluation Flow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6C1D5F"/>
                </a:solidFill>
              </a:defRPr>
            </a:pPr>
            <a:r>
              <a:t>GRADEBOOK PIPELINE SPECIFICATION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Interactive Queue: </a:t>
            </a:r>
            <a:r>
              <a:rPr sz="1200">
                <a:solidFill>
                  <a:srgbClr val="475569"/>
                </a:solidFill>
                <a:latin typeface="Segoe UI"/>
              </a:rPr>
              <a:t>Submitted files load dynamically in trainer's review panels.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Direct Feedback Loops: </a:t>
            </a:r>
            <a:r>
              <a:rPr sz="1200">
                <a:solidFill>
                  <a:srgbClr val="475569"/>
                </a:solidFill>
                <a:latin typeface="Segoe UI"/>
              </a:rPr>
              <a:t>POST /grade and POST /reject endpoints update score records and comments.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Late Submission Detection: </a:t>
            </a:r>
            <a:r>
              <a:rPr sz="1200">
                <a:solidFill>
                  <a:srgbClr val="475569"/>
                </a:solidFill>
                <a:latin typeface="Segoe UI"/>
              </a:rPr>
              <a:t>Auto-flags submissions sent after deadlines as 'Late Submitted'.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1371600" cy="10972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201168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b="1" sz="1000"/>
            </a:pPr>
            <a:r>
              <a:t>Student</a:t>
            </a:r>
            <a:br/>
            <a:r>
              <a:t>Submits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680960" y="2011680"/>
            <a:ext cx="365760" cy="27432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1645920"/>
            <a:ext cx="1371600" cy="10972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011680"/>
            <a:ext cx="1371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b="1" sz="1000"/>
            </a:pPr>
            <a:r>
              <a:t>Gradebook</a:t>
            </a:r>
            <a:br/>
            <a:r>
              <a:t>Queue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601200" y="2011680"/>
            <a:ext cx="365760" cy="27432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0" y="1645920"/>
            <a:ext cx="1280160" cy="10972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0" y="2011680"/>
            <a:ext cx="1280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b="1" sz="1000"/>
            </a:pPr>
            <a:r>
              <a:t>Trainer</a:t>
            </a:r>
            <a:br/>
            <a:r>
              <a:t>Evaluates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3291840"/>
            <a:ext cx="1645920" cy="7315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35204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/>
            </a:pPr>
            <a:r>
              <a:t>Option A: Grade &amp; Close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3291840"/>
            <a:ext cx="1645920" cy="7315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35204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1"/>
            </a:pPr>
            <a:r>
              <a:t>Option B: Reject / Resubmit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30352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1" b="1">
                <a:solidFill>
                  <a:srgbClr val="94A3B8"/>
                </a:solidFill>
              </a:defRPr>
            </a:pPr>
            <a:r>
              <a:t>[ UI SCREENSHOT PLACEHOLDER: Gradebook.jsx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C1D5F"/>
                </a:solidFill>
                <a:latin typeface="Segoe UI"/>
              </a:defRPr>
            </a:pPr>
            <a:r>
              <a:t>LMS-XEBIA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Spreadsheet Quiz Import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6C1D5F"/>
                </a:solidFill>
              </a:defRPr>
            </a:pPr>
            <a:r>
              <a:t>EXCEL INGESTION ENGINE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Upload Event Handler: </a:t>
            </a:r>
            <a:r>
              <a:rPr sz="1200">
                <a:solidFill>
                  <a:srgbClr val="475569"/>
                </a:solidFill>
                <a:latin typeface="Segoe UI"/>
              </a:rPr>
              <a:t>Accepts standard template files via Vite React form dialogues.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Validation Check: </a:t>
            </a:r>
            <a:r>
              <a:rPr sz="1200">
                <a:solidFill>
                  <a:srgbClr val="475569"/>
                </a:solidFill>
                <a:latin typeface="Segoe UI"/>
              </a:rPr>
              <a:t>Filters formatting issues, missing options, or duplicate strings.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Transactional Ingestion: </a:t>
            </a:r>
            <a:r>
              <a:rPr sz="1200">
                <a:solidFill>
                  <a:srgbClr val="475569"/>
                </a:solidFill>
                <a:latin typeface="Segoe UI"/>
              </a:rPr>
              <a:t>Saves questions and generates quiz instances atomically in the database.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Status: </a:t>
            </a:r>
            <a:r>
              <a:rPr sz="1200">
                <a:solidFill>
                  <a:srgbClr val="475569"/>
                </a:solidFill>
                <a:latin typeface="Segoe UI"/>
              </a:rPr>
              <a:t>Fully implemented prototype. Mapped endpoints active on backend server.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731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7830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100">
                <a:solidFill>
                  <a:srgbClr val="475569"/>
                </a:solidFill>
              </a:defRPr>
            </a:pPr>
            <a:r>
              <a:t>1. Trainer uploads Excel questions sheet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560320"/>
            <a:ext cx="5120640" cy="731520"/>
          </a:xfrm>
          <a:prstGeom prst="roundRect">
            <a:avLst/>
          </a:prstGeom>
          <a:solidFill>
            <a:srgbClr val="FEFBE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26974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100">
                <a:solidFill>
                  <a:srgbClr val="B45309"/>
                </a:solidFill>
              </a:defRPr>
            </a:pPr>
            <a:r>
              <a:t>2. Backend validates schemas, formats and deduplicates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474720"/>
            <a:ext cx="5120640" cy="73152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36118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1100">
                <a:solidFill>
                  <a:srgbClr val="0D9488"/>
                </a:solidFill>
              </a:defRPr>
            </a:pPr>
            <a:r>
              <a:t>3. Saves questions atomically under Quiz 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30352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1" sz="1000" b="1">
                <a:solidFill>
                  <a:srgbClr val="94A3B8"/>
                </a:solidFill>
              </a:defRPr>
            </a:pPr>
            <a:r>
              <a:t>[ UI SCREENSHOT PLACEHOLDER: Quizzes.jsx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C1D5F"/>
                </a:solidFill>
                <a:latin typeface="Segoe UI"/>
              </a:defRPr>
            </a:pPr>
            <a:r>
              <a:t>LMS-XEBIA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JPA Entity Relationships &amp; Schema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6C1D5F"/>
                </a:solidFill>
              </a:defRPr>
            </a:pPr>
            <a:r>
              <a:t>ORM DESIGN SPECIFICATIONS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Course -&gt; Modules Mapping: </a:t>
            </a:r>
            <a:r>
              <a:rPr sz="1200">
                <a:solidFill>
                  <a:srgbClr val="475569"/>
                </a:solidFill>
                <a:latin typeface="Segoe UI"/>
              </a:rPr>
              <a:t>One-to-Many cascade mapping. Removing a Course drops all corresponding Module records.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Module -&gt; SubModules Mapping: </a:t>
            </a:r>
            <a:r>
              <a:rPr sz="1200">
                <a:solidFill>
                  <a:srgbClr val="475569"/>
                </a:solidFill>
                <a:latin typeface="Segoe UI"/>
              </a:rPr>
              <a:t>One-to-Many cascade mapping. Maintains list ordering sequences.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Quiz -&gt; Questions Mapping: </a:t>
            </a:r>
            <a:r>
              <a:rPr sz="1200">
                <a:solidFill>
                  <a:srgbClr val="475569"/>
                </a:solidFill>
                <a:latin typeface="Segoe UI"/>
              </a:rPr>
              <a:t>Deduplicated cascade mapping containing validation constraints.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137160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C1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22860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b="1" sz="1100"/>
            </a:pPr>
            <a:r>
              <a:t>Course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680960" y="2286000"/>
            <a:ext cx="365760" cy="274320"/>
          </a:xfrm>
          <a:prstGeom prst="rightArrow">
            <a:avLst/>
          </a:prstGeom>
          <a:solidFill>
            <a:srgbClr val="6C1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137160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A21C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2860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b="1" sz="1100"/>
            </a:pPr>
            <a:r>
              <a:t>Module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601200" y="2286000"/>
            <a:ext cx="365760" cy="274320"/>
          </a:xfrm>
          <a:prstGeom prst="rightArrow">
            <a:avLst/>
          </a:prstGeom>
          <a:solidFill>
            <a:srgbClr val="A21C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0" y="2011680"/>
            <a:ext cx="137160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0" y="22860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b="1" sz="1100"/>
            </a:pPr>
            <a:r>
              <a:t>Sub-Module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29600" y="3291840"/>
            <a:ext cx="274320" cy="365760"/>
          </a:xfrm>
          <a:prstGeom prst="rightArrow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38160" y="4023360"/>
            <a:ext cx="1371600" cy="914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29768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b="1" sz="1100"/>
            </a:pPr>
            <a:r>
              <a:t>Content Block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 b="1">
                <a:solidFill>
                  <a:srgbClr val="6C1D5F"/>
                </a:solidFill>
                <a:latin typeface="Segoe UI"/>
              </a:defRPr>
            </a:pPr>
            <a:r>
              <a:t>LMS-XEBIA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1E293B"/>
                </a:solidFill>
                <a:latin typeface="Segoe UI"/>
              </a:defRPr>
            </a:pPr>
            <a:r>
              <a:t>Trainer Console: Key Technical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B45309"/>
                </a:solidFill>
              </a:defRPr>
            </a:pPr>
            <a:r>
              <a:t>JPA CIRCULAR FETCHING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JPA recursive references broke serialization.</a:t>
            </a:r>
            <a:br/>
            <a:r>
              <a:t>Integrated decoupled DTO response mapping classes.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20116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78308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B45309"/>
                </a:solidFill>
              </a:defRPr>
            </a:pPr>
            <a:r>
              <a:t>EXCEL SCHEMA PARSING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Broken rows crashed database processes.</a:t>
            </a:r>
            <a:br/>
            <a:r>
              <a:t>Implemented template validation pre-checks.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06908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B45309"/>
                </a:solidFill>
              </a:defRPr>
            </a:pPr>
            <a:r>
              <a:t>SUBMISSION TRANSITIONS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Calculating due times &amp; evaluation overlaps.</a:t>
            </a:r>
            <a:br/>
            <a:r>
              <a:t>Created transaction checks in Service layers.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931920"/>
            <a:ext cx="5120640" cy="20116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069080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b="1" sz="1200">
                <a:solidFill>
                  <a:srgbClr val="B45309"/>
                </a:solidFill>
              </a:defRPr>
            </a:pPr>
            <a:r>
              <a:t>FILE STREAM LOCKS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Large image and file writes caused lock leaks.</a:t>
            </a:r>
            <a:br/>
            <a:r>
              <a:t>Used safe I/O streams with autoflush controls.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1D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spcBef>
                <a:spcPts val="1000"/>
              </a:spcBef>
              <a:defRPr sz="1600" i="1">
                <a:solidFill>
                  <a:srgbClr val="FEF4FF"/>
                </a:solidFill>
                <a:latin typeface="Segoe UI"/>
              </a:defRPr>
            </a:pPr>
            <a:r>
              <a:t>Trainer Console Development - End of Presentation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474720"/>
            <a:ext cx="9445752" cy="2560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3657600"/>
            <a:ext cx="88696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6C1D5F"/>
                </a:solidFill>
              </a:defRPr>
            </a:pPr>
            <a:r>
              <a:t>FUTURE ROADMAP &amp; SYSTEM EVOLUTION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Amazon S3 Integration: </a:t>
            </a:r>
            <a:r>
              <a:rPr sz="1200">
                <a:solidFill>
                  <a:srgbClr val="475569"/>
                </a:solidFill>
                <a:latin typeface="Segoe UI"/>
              </a:rPr>
              <a:t>Deploy files to secure AWS Cloud objects storage buckets.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Redis Caching Layer: </a:t>
            </a:r>
            <a:r>
              <a:rPr sz="1200">
                <a:solidFill>
                  <a:srgbClr val="475569"/>
                </a:solidFill>
                <a:latin typeface="Segoe UI"/>
              </a:rPr>
              <a:t>Implement key caching to speed up stats loads on dashboard mount.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Notification Alerts System: </a:t>
            </a:r>
            <a:r>
              <a:rPr sz="1200">
                <a:solidFill>
                  <a:srgbClr val="475569"/>
                </a:solidFill>
                <a:latin typeface="Segoe UI"/>
              </a:rPr>
              <a:t>Trigger transactional emails via SES notifying when tasks are marked.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E293B"/>
                </a:solidFill>
                <a:latin typeface="Segoe UI"/>
              </a:rPr>
              <a:t>•  CI/CD Pipeline Setup: </a:t>
            </a:r>
            <a:r>
              <a:rPr sz="1200">
                <a:solidFill>
                  <a:srgbClr val="475569"/>
                </a:solidFill>
                <a:latin typeface="Segoe UI"/>
              </a:rPr>
              <a:t>Docker containerization and pipeline builds targeting AWS EKS.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